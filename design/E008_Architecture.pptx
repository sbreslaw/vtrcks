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11338560" cy="457200"/>
          </a:xfrm>
          <a:prstGeom prst="rect">
            <a:avLst/>
          </a:prstGeom>
          <a:noFill/>
          <a:ln/>
        </p:spPr>
        <p:txBody>
          <a:bodyPr wrap="square" lIns="0" tIns="0" rIns="0" bIns="0"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E008 Vaccine Ordering — Solution Architecture</a:t>
            </a:r>
            <a:endParaRPr lang="en-US" sz="2600" dirty="0"/>
          </a:p>
        </p:txBody>
      </p:sp>
      <p:sp>
        <p:nvSpPr>
          <p:cNvPr id="3" name="Text 1"/>
          <p:cNvSpPr/>
          <p:nvPr/>
        </p:nvSpPr>
        <p:spPr>
          <a:xfrm>
            <a:off x="411480" y="658368"/>
            <a:ext cx="2743200" cy="219456"/>
          </a:xfrm>
          <a:prstGeom prst="rect">
            <a:avLst/>
          </a:prstGeom>
          <a:noFill/>
          <a:ln/>
        </p:spPr>
        <p:txBody>
          <a:bodyPr wrap="square" lIns="0" tIns="0" rIns="0" bIns="0" rtlCol="0" anchor="ctr"/>
          <a:lstStyle/>
          <a:p>
            <a:pPr indent="0" marL="0">
              <a:buNone/>
            </a:pPr>
            <a:r>
              <a:rPr lang="en-US" sz="1000" b="1" spc="200" kern="0" dirty="0">
                <a:solidFill>
                  <a:srgbClr val="5B6470"/>
                </a:solidFill>
                <a:latin typeface="Calibri" pitchFamily="34" charset="0"/>
                <a:ea typeface="Calibri" pitchFamily="34" charset="-122"/>
                <a:cs typeface="Calibri" pitchFamily="34" charset="-120"/>
              </a:rPr>
              <a:t>USERS &amp; EXTERNAL SYSTEMS</a:t>
            </a:r>
            <a:endParaRPr lang="en-US" sz="1000" dirty="0"/>
          </a:p>
        </p:txBody>
      </p:sp>
      <p:sp>
        <p:nvSpPr>
          <p:cNvPr id="4" name="Shape 2"/>
          <p:cNvSpPr/>
          <p:nvPr/>
        </p:nvSpPr>
        <p:spPr>
          <a:xfrm>
            <a:off x="411480" y="896112"/>
            <a:ext cx="2286000" cy="566928"/>
          </a:xfrm>
          <a:prstGeom prst="roundRect">
            <a:avLst>
              <a:gd name="adj" fmla="val 8065"/>
            </a:avLst>
          </a:prstGeom>
          <a:solidFill>
            <a:srgbClr val="DCE8F7"/>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5" name="Text 3"/>
          <p:cNvSpPr/>
          <p:nvPr/>
        </p:nvSpPr>
        <p:spPr>
          <a:xfrm>
            <a:off x="484632" y="932688"/>
            <a:ext cx="2139696" cy="493776"/>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Awardee Users</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jurisdiction-scoped</a:t>
            </a:r>
            <a:endParaRPr lang="en-US" sz="1100" dirty="0"/>
          </a:p>
        </p:txBody>
      </p:sp>
      <p:sp>
        <p:nvSpPr>
          <p:cNvPr id="6" name="Shape 4"/>
          <p:cNvSpPr/>
          <p:nvPr/>
        </p:nvSpPr>
        <p:spPr>
          <a:xfrm>
            <a:off x="2880360" y="896112"/>
            <a:ext cx="2286000" cy="566928"/>
          </a:xfrm>
          <a:prstGeom prst="roundRect">
            <a:avLst>
              <a:gd name="adj" fmla="val 8065"/>
            </a:avLst>
          </a:prstGeom>
          <a:solidFill>
            <a:srgbClr val="DCE8F7"/>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7" name="Text 5"/>
          <p:cNvSpPr/>
          <p:nvPr/>
        </p:nvSpPr>
        <p:spPr>
          <a:xfrm>
            <a:off x="2953512" y="932688"/>
            <a:ext cx="2139696" cy="493776"/>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CDC Users</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full scope</a:t>
            </a:r>
            <a:endParaRPr lang="en-US" sz="1100" dirty="0"/>
          </a:p>
        </p:txBody>
      </p:sp>
      <p:sp>
        <p:nvSpPr>
          <p:cNvPr id="8" name="Shape 6"/>
          <p:cNvSpPr/>
          <p:nvPr/>
        </p:nvSpPr>
        <p:spPr>
          <a:xfrm>
            <a:off x="8549640" y="896112"/>
            <a:ext cx="3200400" cy="566928"/>
          </a:xfrm>
          <a:prstGeom prst="roundRect">
            <a:avLst>
              <a:gd name="adj" fmla="val 8065"/>
            </a:avLst>
          </a:prstGeom>
          <a:solidFill>
            <a:srgbClr val="F3E3C8"/>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9" name="Text 7"/>
          <p:cNvSpPr/>
          <p:nvPr/>
        </p:nvSpPr>
        <p:spPr>
          <a:xfrm>
            <a:off x="8622792" y="932688"/>
            <a:ext cx="3054096" cy="493776"/>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EXiS / Partner Systems</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machine order entry · no direct UI access</a:t>
            </a:r>
            <a:endParaRPr lang="en-US" sz="1100" dirty="0"/>
          </a:p>
        </p:txBody>
      </p:sp>
      <p:sp>
        <p:nvSpPr>
          <p:cNvPr id="10" name="Text 8"/>
          <p:cNvSpPr/>
          <p:nvPr/>
        </p:nvSpPr>
        <p:spPr>
          <a:xfrm>
            <a:off x="411480" y="1700784"/>
            <a:ext cx="3657600" cy="219456"/>
          </a:xfrm>
          <a:prstGeom prst="rect">
            <a:avLst/>
          </a:prstGeom>
          <a:noFill/>
          <a:ln/>
        </p:spPr>
        <p:txBody>
          <a:bodyPr wrap="square" lIns="0" tIns="0" rIns="0" bIns="0" rtlCol="0" anchor="ctr"/>
          <a:lstStyle/>
          <a:p>
            <a:pPr indent="0" marL="0">
              <a:buNone/>
            </a:pPr>
            <a:r>
              <a:rPr lang="en-US" sz="1000" b="1" spc="200" kern="0" dirty="0">
                <a:solidFill>
                  <a:srgbClr val="5B6470"/>
                </a:solidFill>
                <a:latin typeface="Calibri" pitchFamily="34" charset="0"/>
                <a:ea typeface="Calibri" pitchFamily="34" charset="-122"/>
                <a:cs typeface="Calibri" pitchFamily="34" charset="-120"/>
              </a:rPr>
              <a:t>CONSUMPTION LAYER</a:t>
            </a:r>
            <a:endParaRPr lang="en-US" sz="1000" dirty="0"/>
          </a:p>
        </p:txBody>
      </p:sp>
      <p:sp>
        <p:nvSpPr>
          <p:cNvPr id="11" name="Shape 9"/>
          <p:cNvSpPr/>
          <p:nvPr/>
        </p:nvSpPr>
        <p:spPr>
          <a:xfrm>
            <a:off x="411480" y="1938528"/>
            <a:ext cx="3108960" cy="868680"/>
          </a:xfrm>
          <a:prstGeom prst="roundRect">
            <a:avLst>
              <a:gd name="adj" fmla="val 5263"/>
            </a:avLst>
          </a:prstGeom>
          <a:solidFill>
            <a:srgbClr val="DCE8F7"/>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12" name="Text 10"/>
          <p:cNvSpPr/>
          <p:nvPr/>
        </p:nvSpPr>
        <p:spPr>
          <a:xfrm>
            <a:off x="484632" y="1975104"/>
            <a:ext cx="2962656" cy="795528"/>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Order Cockpit</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Freestyle SAPUI5 · OData V4</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single-surface create / edit / display / actions</a:t>
            </a:r>
            <a:endParaRPr lang="en-US" sz="1100" dirty="0"/>
          </a:p>
        </p:txBody>
      </p:sp>
      <p:sp>
        <p:nvSpPr>
          <p:cNvPr id="13" name="Shape 11"/>
          <p:cNvSpPr/>
          <p:nvPr/>
        </p:nvSpPr>
        <p:spPr>
          <a:xfrm>
            <a:off x="3703320" y="1938528"/>
            <a:ext cx="2743200" cy="868680"/>
          </a:xfrm>
          <a:prstGeom prst="roundRect">
            <a:avLst>
              <a:gd name="adj" fmla="val 5263"/>
            </a:avLst>
          </a:prstGeom>
          <a:solidFill>
            <a:srgbClr val="DCE8F7"/>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14" name="Text 12"/>
          <p:cNvSpPr/>
          <p:nvPr/>
        </p:nvSpPr>
        <p:spPr>
          <a:xfrm>
            <a:off x="3776472" y="1975104"/>
            <a:ext cx="2596896" cy="795528"/>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Order Search &amp; List</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Fiori Elements List Report (V4)</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filters · variants · Excel export</a:t>
            </a:r>
            <a:endParaRPr lang="en-US" sz="1100" dirty="0"/>
          </a:p>
        </p:txBody>
      </p:sp>
      <p:sp>
        <p:nvSpPr>
          <p:cNvPr id="15" name="Shape 13"/>
          <p:cNvSpPr/>
          <p:nvPr/>
        </p:nvSpPr>
        <p:spPr>
          <a:xfrm>
            <a:off x="6629400" y="1938528"/>
            <a:ext cx="1691640" cy="868680"/>
          </a:xfrm>
          <a:prstGeom prst="roundRect">
            <a:avLst>
              <a:gd name="adj" fmla="val 5263"/>
            </a:avLst>
          </a:prstGeom>
          <a:solidFill>
            <a:srgbClr val="DCE8F7"/>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16" name="Text 14"/>
          <p:cNvSpPr/>
          <p:nvPr/>
        </p:nvSpPr>
        <p:spPr>
          <a:xfrm>
            <a:off x="6702552" y="1975104"/>
            <a:ext cx="1545336" cy="795528"/>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Shared Value Helps</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cascading dialogs</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(Provider, NDC, Contact…)</a:t>
            </a:r>
            <a:endParaRPr lang="en-US" sz="1100" dirty="0"/>
          </a:p>
        </p:txBody>
      </p:sp>
      <p:sp>
        <p:nvSpPr>
          <p:cNvPr id="17" name="Shape 15"/>
          <p:cNvSpPr/>
          <p:nvPr/>
        </p:nvSpPr>
        <p:spPr>
          <a:xfrm>
            <a:off x="8549640" y="1938528"/>
            <a:ext cx="3200400" cy="868680"/>
          </a:xfrm>
          <a:prstGeom prst="roundRect">
            <a:avLst>
              <a:gd name="adj" fmla="val 5263"/>
            </a:avLst>
          </a:prstGeom>
          <a:solidFill>
            <a:srgbClr val="F3E3C8"/>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18" name="Text 16"/>
          <p:cNvSpPr/>
          <p:nvPr/>
        </p:nvSpPr>
        <p:spPr>
          <a:xfrm>
            <a:off x="8622792" y="1975104"/>
            <a:ext cx="3054096" cy="795528"/>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Web API Channel</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async submit + correlation ID</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Status Service polling · shipment details</a:t>
            </a:r>
            <a:endParaRPr lang="en-US" sz="1100" dirty="0"/>
          </a:p>
        </p:txBody>
      </p:sp>
      <p:sp>
        <p:nvSpPr>
          <p:cNvPr id="19" name="Text 17"/>
          <p:cNvSpPr/>
          <p:nvPr/>
        </p:nvSpPr>
        <p:spPr>
          <a:xfrm>
            <a:off x="411480" y="1481328"/>
            <a:ext cx="7909560" cy="201168"/>
          </a:xfrm>
          <a:prstGeom prst="rect">
            <a:avLst/>
          </a:prstGeom>
          <a:noFill/>
          <a:ln/>
        </p:spPr>
        <p:txBody>
          <a:bodyPr wrap="square" lIns="0" tIns="0" rIns="0" bIns="0" rtlCol="0" anchor="ctr"/>
          <a:lstStyle/>
          <a:p>
            <a:pPr algn="ctr" indent="0" marL="0">
              <a:buNone/>
            </a:pPr>
            <a:r>
              <a:rPr lang="en-US" sz="850" i="1" dirty="0">
                <a:solidFill>
                  <a:srgbClr val="5B6470"/>
                </a:solidFill>
                <a:latin typeface="Calibri" pitchFamily="34" charset="0"/>
                <a:ea typeface="Calibri" pitchFamily="34" charset="-122"/>
                <a:cs typeface="Calibri" pitchFamily="34" charset="-120"/>
              </a:rPr>
              <a:t>SAP Fiori Launchpad  ·  catalogs &amp; tiles  ·  PFCG roles (CDC / Awardee)</a:t>
            </a:r>
            <a:endParaRPr lang="en-US" sz="850" dirty="0"/>
          </a:p>
        </p:txBody>
      </p:sp>
      <p:sp>
        <p:nvSpPr>
          <p:cNvPr id="20" name="Shape 18"/>
          <p:cNvSpPr/>
          <p:nvPr/>
        </p:nvSpPr>
        <p:spPr>
          <a:xfrm>
            <a:off x="1554480" y="1463040"/>
            <a:ext cx="0" cy="475488"/>
          </a:xfrm>
          <a:prstGeom prst="line">
            <a:avLst/>
          </a:prstGeom>
          <a:noFill/>
          <a:ln w="19050">
            <a:solidFill>
              <a:srgbClr val="5B6470"/>
            </a:solidFill>
            <a:prstDash val="solid"/>
            <a:tailEnd type="triangle"/>
          </a:ln>
        </p:spPr>
      </p:sp>
      <p:sp>
        <p:nvSpPr>
          <p:cNvPr id="21" name="Shape 19"/>
          <p:cNvSpPr/>
          <p:nvPr/>
        </p:nvSpPr>
        <p:spPr>
          <a:xfrm>
            <a:off x="4023360" y="1463040"/>
            <a:ext cx="0" cy="475488"/>
          </a:xfrm>
          <a:prstGeom prst="line">
            <a:avLst/>
          </a:prstGeom>
          <a:noFill/>
          <a:ln w="19050">
            <a:solidFill>
              <a:srgbClr val="5B6470"/>
            </a:solidFill>
            <a:prstDash val="solid"/>
            <a:tailEnd type="triangle"/>
          </a:ln>
        </p:spPr>
      </p:sp>
      <p:sp>
        <p:nvSpPr>
          <p:cNvPr id="22" name="Shape 20"/>
          <p:cNvSpPr/>
          <p:nvPr/>
        </p:nvSpPr>
        <p:spPr>
          <a:xfrm>
            <a:off x="10149840" y="1463040"/>
            <a:ext cx="0" cy="475488"/>
          </a:xfrm>
          <a:prstGeom prst="line">
            <a:avLst/>
          </a:prstGeom>
          <a:noFill/>
          <a:ln w="19050">
            <a:solidFill>
              <a:srgbClr val="5B6470"/>
            </a:solidFill>
            <a:prstDash val="solid"/>
            <a:tailEnd type="triangle"/>
          </a:ln>
        </p:spPr>
      </p:sp>
      <p:sp>
        <p:nvSpPr>
          <p:cNvPr id="23" name="Text 21"/>
          <p:cNvSpPr/>
          <p:nvPr/>
        </p:nvSpPr>
        <p:spPr>
          <a:xfrm>
            <a:off x="411480" y="3017520"/>
            <a:ext cx="3657600" cy="219456"/>
          </a:xfrm>
          <a:prstGeom prst="rect">
            <a:avLst/>
          </a:prstGeom>
          <a:noFill/>
          <a:ln/>
        </p:spPr>
        <p:txBody>
          <a:bodyPr wrap="square" lIns="0" tIns="0" rIns="0" bIns="0" rtlCol="0" anchor="ctr"/>
          <a:lstStyle/>
          <a:p>
            <a:pPr indent="0" marL="0">
              <a:buNone/>
            </a:pPr>
            <a:r>
              <a:rPr lang="en-US" sz="1000" b="1" spc="200" kern="0" dirty="0">
                <a:solidFill>
                  <a:srgbClr val="5B6470"/>
                </a:solidFill>
                <a:latin typeface="Calibri" pitchFamily="34" charset="0"/>
                <a:ea typeface="Calibri" pitchFamily="34" charset="-122"/>
                <a:cs typeface="Calibri" pitchFamily="34" charset="-120"/>
              </a:rPr>
              <a:t>SERVICE LAYER</a:t>
            </a:r>
            <a:endParaRPr lang="en-US" sz="1000" dirty="0"/>
          </a:p>
        </p:txBody>
      </p:sp>
      <p:sp>
        <p:nvSpPr>
          <p:cNvPr id="24" name="Shape 22"/>
          <p:cNvSpPr/>
          <p:nvPr/>
        </p:nvSpPr>
        <p:spPr>
          <a:xfrm>
            <a:off x="411480" y="3255264"/>
            <a:ext cx="7909560" cy="502920"/>
          </a:xfrm>
          <a:prstGeom prst="roundRect">
            <a:avLst>
              <a:gd name="adj" fmla="val 9091"/>
            </a:avLst>
          </a:prstGeom>
          <a:solidFill>
            <a:srgbClr val="C5D9F1"/>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25" name="Text 23"/>
          <p:cNvSpPr/>
          <p:nvPr/>
        </p:nvSpPr>
        <p:spPr>
          <a:xfrm>
            <a:off x="484632" y="3291840"/>
            <a:ext cx="7763256" cy="429768"/>
          </a:xfrm>
          <a:prstGeom prst="rect">
            <a:avLst/>
          </a:prstGeom>
          <a:noFill/>
          <a:ln/>
        </p:spPr>
        <p:txBody>
          <a:bodyPr wrap="square" lIns="0" tIns="0" rIns="0" bIns="0" rtlCol="0" anchor="ctr"/>
          <a:lstStyle/>
          <a:p>
            <a:pPr algn="ctr" indent="0" marL="0">
              <a:lnSpc>
                <a:spcPct val="98000"/>
              </a:lnSpc>
              <a:buNone/>
            </a:pPr>
            <a:r>
              <a:rPr lang="en-US" sz="1050" b="1" dirty="0">
                <a:solidFill>
                  <a:srgbClr val="1F4E79"/>
                </a:solidFill>
                <a:latin typeface="Calibri" pitchFamily="34" charset="0"/>
                <a:ea typeface="Calibri" pitchFamily="34" charset="-122"/>
                <a:cs typeface="Calibri" pitchFamily="34" charset="-120"/>
              </a:rPr>
              <a:t>OData V4 UI Service Binding</a:t>
            </a:r>
            <a:endParaRPr lang="en-US" sz="1050" dirty="0"/>
          </a:p>
          <a:p>
            <a:pPr algn="ctr" indent="0" marL="0">
              <a:lnSpc>
                <a:spcPct val="98000"/>
              </a:lnSpc>
              <a:buNone/>
            </a:pPr>
            <a:r>
              <a:rPr lang="en-US" sz="800" dirty="0">
                <a:solidFill>
                  <a:srgbClr val="2A2A2A"/>
                </a:solidFill>
                <a:latin typeface="Calibri" pitchFamily="34" charset="0"/>
                <a:ea typeface="Calibri" pitchFamily="34" charset="-122"/>
                <a:cs typeface="Calibri" pitchFamily="34" charset="-120"/>
              </a:rPr>
              <a:t>field control · side effects · messages · draft-free</a:t>
            </a:r>
            <a:endParaRPr lang="en-US" sz="1050" dirty="0"/>
          </a:p>
        </p:txBody>
      </p:sp>
      <p:sp>
        <p:nvSpPr>
          <p:cNvPr id="26" name="Shape 24"/>
          <p:cNvSpPr/>
          <p:nvPr/>
        </p:nvSpPr>
        <p:spPr>
          <a:xfrm>
            <a:off x="8549640" y="3255264"/>
            <a:ext cx="3200400" cy="502920"/>
          </a:xfrm>
          <a:prstGeom prst="roundRect">
            <a:avLst>
              <a:gd name="adj" fmla="val 9091"/>
            </a:avLst>
          </a:prstGeom>
          <a:solidFill>
            <a:srgbClr val="C5D9F1"/>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27" name="Text 25"/>
          <p:cNvSpPr/>
          <p:nvPr/>
        </p:nvSpPr>
        <p:spPr>
          <a:xfrm>
            <a:off x="8622792" y="3291840"/>
            <a:ext cx="3054096" cy="429768"/>
          </a:xfrm>
          <a:prstGeom prst="rect">
            <a:avLst/>
          </a:prstGeom>
          <a:noFill/>
          <a:ln/>
        </p:spPr>
        <p:txBody>
          <a:bodyPr wrap="square" lIns="0" tIns="0" rIns="0" bIns="0" rtlCol="0" anchor="ctr"/>
          <a:lstStyle/>
          <a:p>
            <a:pPr algn="ctr" indent="0" marL="0">
              <a:lnSpc>
                <a:spcPct val="98000"/>
              </a:lnSpc>
              <a:buNone/>
            </a:pPr>
            <a:r>
              <a:rPr lang="en-US" sz="1050" b="1" dirty="0">
                <a:solidFill>
                  <a:srgbClr val="1F4E79"/>
                </a:solidFill>
                <a:latin typeface="Calibri" pitchFamily="34" charset="0"/>
                <a:ea typeface="Calibri" pitchFamily="34" charset="-122"/>
                <a:cs typeface="Calibri" pitchFamily="34" charset="-120"/>
              </a:rPr>
              <a:t>Web API Service Binding</a:t>
            </a:r>
            <a:endParaRPr lang="en-US" sz="1050" dirty="0"/>
          </a:p>
          <a:p>
            <a:pPr algn="ctr" indent="0" marL="0">
              <a:lnSpc>
                <a:spcPct val="98000"/>
              </a:lnSpc>
              <a:buNone/>
            </a:pPr>
            <a:r>
              <a:rPr lang="en-US" sz="800" dirty="0">
                <a:solidFill>
                  <a:srgbClr val="2A2A2A"/>
                </a:solidFill>
                <a:latin typeface="Calibri" pitchFamily="34" charset="0"/>
                <a:ea typeface="Calibri" pitchFamily="34" charset="-122"/>
                <a:cs typeface="Calibri" pitchFamily="34" charset="-120"/>
              </a:rPr>
              <a:t>communication arrangement · interface users</a:t>
            </a:r>
            <a:endParaRPr lang="en-US" sz="1050" dirty="0"/>
          </a:p>
        </p:txBody>
      </p:sp>
      <p:sp>
        <p:nvSpPr>
          <p:cNvPr id="28" name="Shape 26"/>
          <p:cNvSpPr/>
          <p:nvPr/>
        </p:nvSpPr>
        <p:spPr>
          <a:xfrm>
            <a:off x="1965960" y="2807208"/>
            <a:ext cx="0" cy="448056"/>
          </a:xfrm>
          <a:prstGeom prst="line">
            <a:avLst/>
          </a:prstGeom>
          <a:noFill/>
          <a:ln w="19050">
            <a:solidFill>
              <a:srgbClr val="5B6470"/>
            </a:solidFill>
            <a:prstDash val="solid"/>
            <a:tailEnd type="triangle"/>
          </a:ln>
        </p:spPr>
      </p:sp>
      <p:sp>
        <p:nvSpPr>
          <p:cNvPr id="29" name="Shape 27"/>
          <p:cNvSpPr/>
          <p:nvPr/>
        </p:nvSpPr>
        <p:spPr>
          <a:xfrm>
            <a:off x="5074920" y="2807208"/>
            <a:ext cx="0" cy="448056"/>
          </a:xfrm>
          <a:prstGeom prst="line">
            <a:avLst/>
          </a:prstGeom>
          <a:noFill/>
          <a:ln w="19050">
            <a:solidFill>
              <a:srgbClr val="5B6470"/>
            </a:solidFill>
            <a:prstDash val="solid"/>
            <a:tailEnd type="triangle"/>
          </a:ln>
        </p:spPr>
      </p:sp>
      <p:sp>
        <p:nvSpPr>
          <p:cNvPr id="30" name="Shape 28"/>
          <p:cNvSpPr/>
          <p:nvPr/>
        </p:nvSpPr>
        <p:spPr>
          <a:xfrm>
            <a:off x="7470648" y="2807208"/>
            <a:ext cx="0" cy="448056"/>
          </a:xfrm>
          <a:prstGeom prst="line">
            <a:avLst/>
          </a:prstGeom>
          <a:noFill/>
          <a:ln w="19050">
            <a:solidFill>
              <a:srgbClr val="5B6470"/>
            </a:solidFill>
            <a:prstDash val="solid"/>
            <a:tailEnd type="triangle"/>
          </a:ln>
        </p:spPr>
      </p:sp>
      <p:sp>
        <p:nvSpPr>
          <p:cNvPr id="31" name="Shape 29"/>
          <p:cNvSpPr/>
          <p:nvPr/>
        </p:nvSpPr>
        <p:spPr>
          <a:xfrm>
            <a:off x="10149840" y="2807208"/>
            <a:ext cx="0" cy="448056"/>
          </a:xfrm>
          <a:prstGeom prst="line">
            <a:avLst/>
          </a:prstGeom>
          <a:noFill/>
          <a:ln w="19050">
            <a:solidFill>
              <a:srgbClr val="5B6470"/>
            </a:solidFill>
            <a:prstDash val="solid"/>
            <a:tailEnd type="triangle"/>
          </a:ln>
        </p:spPr>
      </p:sp>
      <p:sp>
        <p:nvSpPr>
          <p:cNvPr id="32" name="Text 30"/>
          <p:cNvSpPr/>
          <p:nvPr/>
        </p:nvSpPr>
        <p:spPr>
          <a:xfrm>
            <a:off x="411480" y="3968496"/>
            <a:ext cx="3657600" cy="219456"/>
          </a:xfrm>
          <a:prstGeom prst="rect">
            <a:avLst/>
          </a:prstGeom>
          <a:noFill/>
          <a:ln/>
        </p:spPr>
        <p:txBody>
          <a:bodyPr wrap="square" lIns="0" tIns="0" rIns="0" bIns="0" rtlCol="0" anchor="ctr"/>
          <a:lstStyle/>
          <a:p>
            <a:pPr indent="0" marL="0">
              <a:buNone/>
            </a:pPr>
            <a:r>
              <a:rPr lang="en-US" sz="1000" b="1" spc="200" kern="0" dirty="0">
                <a:solidFill>
                  <a:srgbClr val="5B6470"/>
                </a:solidFill>
                <a:latin typeface="Calibri" pitchFamily="34" charset="0"/>
                <a:ea typeface="Calibri" pitchFamily="34" charset="-122"/>
                <a:cs typeface="Calibri" pitchFamily="34" charset="-120"/>
              </a:rPr>
              <a:t>BEHAVIOR LAYER — ONE ENFORCEMENT SURFACE</a:t>
            </a:r>
            <a:endParaRPr lang="en-US" sz="1000" dirty="0"/>
          </a:p>
        </p:txBody>
      </p:sp>
      <p:sp>
        <p:nvSpPr>
          <p:cNvPr id="33" name="Shape 31"/>
          <p:cNvSpPr/>
          <p:nvPr/>
        </p:nvSpPr>
        <p:spPr>
          <a:xfrm>
            <a:off x="411480" y="4206240"/>
            <a:ext cx="11338560" cy="960120"/>
          </a:xfrm>
          <a:prstGeom prst="roundRect">
            <a:avLst>
              <a:gd name="adj" fmla="val 4762"/>
            </a:avLst>
          </a:prstGeom>
          <a:solidFill>
            <a:srgbClr val="9DC3E6"/>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34" name="Text 32"/>
          <p:cNvSpPr/>
          <p:nvPr/>
        </p:nvSpPr>
        <p:spPr>
          <a:xfrm>
            <a:off x="484632" y="4242816"/>
            <a:ext cx="11192256" cy="886968"/>
          </a:xfrm>
          <a:prstGeom prst="rect">
            <a:avLst/>
          </a:prstGeom>
          <a:noFill/>
          <a:ln/>
        </p:spPr>
        <p:txBody>
          <a:bodyPr wrap="square" lIns="0" tIns="0" rIns="0" bIns="0" rtlCol="0" anchor="ctr"/>
          <a:lstStyle/>
          <a:p>
            <a:pPr algn="ctr" indent="0" marL="0">
              <a:lnSpc>
                <a:spcPct val="98000"/>
              </a:lnSpc>
              <a:buNone/>
            </a:pPr>
            <a:r>
              <a:rPr lang="en-US" sz="1150" b="1" dirty="0">
                <a:solidFill>
                  <a:srgbClr val="1F4E79"/>
                </a:solidFill>
                <a:latin typeface="Calibri" pitchFamily="34" charset="0"/>
                <a:ea typeface="Calibri" pitchFamily="34" charset="-122"/>
                <a:cs typeface="Calibri" pitchFamily="34" charset="-120"/>
              </a:rPr>
              <a:t>RAP Business Object — Vaccine Request (unmanaged over standard SD sales order API)</a:t>
            </a:r>
            <a:endParaRPr lang="en-US" sz="1150" dirty="0"/>
          </a:p>
          <a:p>
            <a:pPr algn="ctr" indent="0" marL="0">
              <a:lnSpc>
                <a:spcPct val="98000"/>
              </a:lnSpc>
              <a:buNone/>
            </a:pPr>
            <a:r>
              <a:rPr lang="en-US" sz="900" dirty="0">
                <a:solidFill>
                  <a:srgbClr val="2A2A2A"/>
                </a:solidFill>
                <a:latin typeface="Calibri" pitchFamily="34" charset="0"/>
                <a:ea typeface="Calibri" pitchFamily="34" charset="-122"/>
                <a:cs typeface="Calibri" pitchFamily="34" charset="-120"/>
              </a:rPr>
              <a:t>Validations (invoke E006)  ·  Determinations (channel, defaults)  ·  Status-driven field control  ·  Instance authorization (jurisdiction)</a:t>
            </a:r>
            <a:endParaRPr lang="en-US" sz="1150" dirty="0"/>
          </a:p>
          <a:p>
            <a:pPr algn="ctr" indent="0" marL="0">
              <a:lnSpc>
                <a:spcPct val="98000"/>
              </a:lnSpc>
              <a:buNone/>
            </a:pPr>
            <a:r>
              <a:rPr lang="en-US" sz="900" dirty="0">
                <a:solidFill>
                  <a:srgbClr val="2A2A2A"/>
                </a:solidFill>
                <a:latin typeface="Calibri" pitchFamily="34" charset="0"/>
                <a:ea typeface="Calibri" pitchFamily="34" charset="-122"/>
                <a:cs typeface="Calibri" pitchFamily="34" charset="-120"/>
              </a:rPr>
              <a:t>Actions: copy · cancel (matrix + PO/PR cascade) · un-cancel (CDC) · return · replacement (budget bypass) · resubmit · print</a:t>
            </a:r>
            <a:endParaRPr lang="en-US" sz="1150" dirty="0"/>
          </a:p>
        </p:txBody>
      </p:sp>
      <p:sp>
        <p:nvSpPr>
          <p:cNvPr id="35" name="Shape 33"/>
          <p:cNvSpPr/>
          <p:nvPr/>
        </p:nvSpPr>
        <p:spPr>
          <a:xfrm>
            <a:off x="4343400" y="3758184"/>
            <a:ext cx="0" cy="448056"/>
          </a:xfrm>
          <a:prstGeom prst="line">
            <a:avLst/>
          </a:prstGeom>
          <a:noFill/>
          <a:ln w="19050">
            <a:solidFill>
              <a:srgbClr val="5B6470"/>
            </a:solidFill>
            <a:prstDash val="solid"/>
            <a:tailEnd type="triangle"/>
          </a:ln>
        </p:spPr>
      </p:sp>
      <p:sp>
        <p:nvSpPr>
          <p:cNvPr id="36" name="Shape 34"/>
          <p:cNvSpPr/>
          <p:nvPr/>
        </p:nvSpPr>
        <p:spPr>
          <a:xfrm>
            <a:off x="10149840" y="3758184"/>
            <a:ext cx="0" cy="448056"/>
          </a:xfrm>
          <a:prstGeom prst="line">
            <a:avLst/>
          </a:prstGeom>
          <a:noFill/>
          <a:ln w="19050">
            <a:solidFill>
              <a:srgbClr val="5B6470"/>
            </a:solidFill>
            <a:prstDash val="solid"/>
            <a:tailEnd type="triangle"/>
          </a:ln>
        </p:spPr>
      </p:sp>
      <p:sp>
        <p:nvSpPr>
          <p:cNvPr id="37" name="Text 35"/>
          <p:cNvSpPr/>
          <p:nvPr/>
        </p:nvSpPr>
        <p:spPr>
          <a:xfrm>
            <a:off x="411480" y="5358384"/>
            <a:ext cx="5486400" cy="219456"/>
          </a:xfrm>
          <a:prstGeom prst="rect">
            <a:avLst/>
          </a:prstGeom>
          <a:noFill/>
          <a:ln/>
        </p:spPr>
        <p:txBody>
          <a:bodyPr wrap="square" lIns="0" tIns="0" rIns="0" bIns="0" rtlCol="0" anchor="ctr"/>
          <a:lstStyle/>
          <a:p>
            <a:pPr indent="0" marL="0">
              <a:buNone/>
            </a:pPr>
            <a:r>
              <a:rPr lang="en-US" sz="1000" b="1" spc="200" kern="0" dirty="0">
                <a:solidFill>
                  <a:srgbClr val="5B6470"/>
                </a:solidFill>
                <a:latin typeface="Calibri" pitchFamily="34" charset="0"/>
                <a:ea typeface="Calibri" pitchFamily="34" charset="-122"/>
                <a:cs typeface="Calibri" pitchFamily="34" charset="-120"/>
              </a:rPr>
              <a:t>RULE &amp; DOCUMENT OBJECTS</a:t>
            </a:r>
            <a:endParaRPr lang="en-US" sz="1000" dirty="0"/>
          </a:p>
        </p:txBody>
      </p:sp>
      <p:sp>
        <p:nvSpPr>
          <p:cNvPr id="38" name="Shape 36"/>
          <p:cNvSpPr/>
          <p:nvPr/>
        </p:nvSpPr>
        <p:spPr>
          <a:xfrm>
            <a:off x="411480" y="5596128"/>
            <a:ext cx="2651760" cy="658368"/>
          </a:xfrm>
          <a:prstGeom prst="roundRect">
            <a:avLst>
              <a:gd name="adj" fmla="val 6944"/>
            </a:avLst>
          </a:prstGeom>
          <a:solidFill>
            <a:srgbClr val="F3E3C8"/>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39" name="Text 37"/>
          <p:cNvSpPr/>
          <p:nvPr/>
        </p:nvSpPr>
        <p:spPr>
          <a:xfrm>
            <a:off x="484632" y="5632704"/>
            <a:ext cx="2505456" cy="585216"/>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E006 Business Rules</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save / cancellation / re-commit validations · 60-day batch</a:t>
            </a:r>
            <a:endParaRPr lang="en-US" sz="1100" dirty="0"/>
          </a:p>
        </p:txBody>
      </p:sp>
      <p:sp>
        <p:nvSpPr>
          <p:cNvPr id="40" name="Shape 38"/>
          <p:cNvSpPr/>
          <p:nvPr/>
        </p:nvSpPr>
        <p:spPr>
          <a:xfrm>
            <a:off x="3246120" y="5596128"/>
            <a:ext cx="2651760" cy="658368"/>
          </a:xfrm>
          <a:prstGeom prst="roundRect">
            <a:avLst>
              <a:gd name="adj" fmla="val 6944"/>
            </a:avLst>
          </a:prstGeom>
          <a:solidFill>
            <a:srgbClr val="F3E3C8"/>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41" name="Text 39"/>
          <p:cNvSpPr/>
          <p:nvPr/>
        </p:nvSpPr>
        <p:spPr>
          <a:xfrm>
            <a:off x="3319272" y="5632704"/>
            <a:ext cx="2505456" cy="585216"/>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E007 IoH / Consignment</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pre-population logic · IoH document (Submitted)</a:t>
            </a:r>
            <a:endParaRPr lang="en-US" sz="1100" dirty="0"/>
          </a:p>
        </p:txBody>
      </p:sp>
      <p:sp>
        <p:nvSpPr>
          <p:cNvPr id="42" name="Shape 40"/>
          <p:cNvSpPr/>
          <p:nvPr/>
        </p:nvSpPr>
        <p:spPr>
          <a:xfrm>
            <a:off x="6080760" y="5596128"/>
            <a:ext cx="2651760" cy="658368"/>
          </a:xfrm>
          <a:prstGeom prst="roundRect">
            <a:avLst>
              <a:gd name="adj" fmla="val 6944"/>
            </a:avLst>
          </a:prstGeom>
          <a:solidFill>
            <a:srgbClr val="F3E3C8"/>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43" name="Text 41"/>
          <p:cNvSpPr/>
          <p:nvPr/>
        </p:nvSpPr>
        <p:spPr>
          <a:xfrm>
            <a:off x="6153912" y="5632704"/>
            <a:ext cx="2505456" cy="585216"/>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E010 / E013 / E014 / E024</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special circumstances · fund split · fund types · ancillary kits</a:t>
            </a:r>
            <a:endParaRPr lang="en-US" sz="1100" dirty="0"/>
          </a:p>
        </p:txBody>
      </p:sp>
      <p:sp>
        <p:nvSpPr>
          <p:cNvPr id="44" name="Shape 42"/>
          <p:cNvSpPr/>
          <p:nvPr/>
        </p:nvSpPr>
        <p:spPr>
          <a:xfrm>
            <a:off x="1737360" y="5596128"/>
            <a:ext cx="0" cy="-429768"/>
          </a:xfrm>
          <a:prstGeom prst="line">
            <a:avLst/>
          </a:prstGeom>
          <a:noFill/>
          <a:ln w="19050">
            <a:solidFill>
              <a:srgbClr val="5B6470"/>
            </a:solidFill>
            <a:prstDash val="solid"/>
            <a:tailEnd type="triangle"/>
          </a:ln>
        </p:spPr>
      </p:sp>
      <p:sp>
        <p:nvSpPr>
          <p:cNvPr id="45" name="Shape 43"/>
          <p:cNvSpPr/>
          <p:nvPr/>
        </p:nvSpPr>
        <p:spPr>
          <a:xfrm>
            <a:off x="4572000" y="5596128"/>
            <a:ext cx="0" cy="-429768"/>
          </a:xfrm>
          <a:prstGeom prst="line">
            <a:avLst/>
          </a:prstGeom>
          <a:noFill/>
          <a:ln w="19050">
            <a:solidFill>
              <a:srgbClr val="5B6470"/>
            </a:solidFill>
            <a:prstDash val="solid"/>
            <a:tailEnd type="triangle"/>
          </a:ln>
        </p:spPr>
      </p:sp>
      <p:sp>
        <p:nvSpPr>
          <p:cNvPr id="46" name="Shape 44"/>
          <p:cNvSpPr/>
          <p:nvPr/>
        </p:nvSpPr>
        <p:spPr>
          <a:xfrm>
            <a:off x="7406640" y="5596128"/>
            <a:ext cx="0" cy="-429768"/>
          </a:xfrm>
          <a:prstGeom prst="line">
            <a:avLst/>
          </a:prstGeom>
          <a:noFill/>
          <a:ln w="19050">
            <a:solidFill>
              <a:srgbClr val="5B6470"/>
            </a:solidFill>
            <a:prstDash val="solid"/>
            <a:tailEnd type="triangle"/>
          </a:ln>
        </p:spPr>
      </p:sp>
      <p:sp>
        <p:nvSpPr>
          <p:cNvPr id="47" name="Text 45"/>
          <p:cNvSpPr/>
          <p:nvPr/>
        </p:nvSpPr>
        <p:spPr>
          <a:xfrm>
            <a:off x="8915400" y="5358384"/>
            <a:ext cx="2743200" cy="219456"/>
          </a:xfrm>
          <a:prstGeom prst="rect">
            <a:avLst/>
          </a:prstGeom>
          <a:noFill/>
          <a:ln/>
        </p:spPr>
        <p:txBody>
          <a:bodyPr wrap="square" lIns="0" tIns="0" rIns="0" bIns="0" rtlCol="0" anchor="ctr"/>
          <a:lstStyle/>
          <a:p>
            <a:pPr indent="0" marL="0">
              <a:buNone/>
            </a:pPr>
            <a:r>
              <a:rPr lang="en-US" sz="1000" b="1" spc="200" kern="0" dirty="0">
                <a:solidFill>
                  <a:srgbClr val="5B6470"/>
                </a:solidFill>
                <a:latin typeface="Calibri" pitchFamily="34" charset="0"/>
                <a:ea typeface="Calibri" pitchFamily="34" charset="-122"/>
                <a:cs typeface="Calibri" pitchFamily="34" charset="-120"/>
              </a:rPr>
              <a:t>DATA</a:t>
            </a:r>
            <a:endParaRPr lang="en-US" sz="1000" dirty="0"/>
          </a:p>
        </p:txBody>
      </p:sp>
      <p:sp>
        <p:nvSpPr>
          <p:cNvPr id="48" name="Shape 46"/>
          <p:cNvSpPr/>
          <p:nvPr/>
        </p:nvSpPr>
        <p:spPr>
          <a:xfrm>
            <a:off x="8915400" y="5596128"/>
            <a:ext cx="2834640" cy="658368"/>
          </a:xfrm>
          <a:prstGeom prst="roundRect">
            <a:avLst>
              <a:gd name="adj" fmla="val 6944"/>
            </a:avLst>
          </a:prstGeom>
          <a:solidFill>
            <a:srgbClr val="DDEBDD"/>
          </a:solidFill>
          <a:ln w="12700">
            <a:solidFill>
              <a:srgbClr val="8FA8C8"/>
            </a:solidFill>
            <a:prstDash val="solid"/>
          </a:ln>
          <a:effectLst>
            <a:outerShdw sx="100000" sy="100000" kx="0" ky="0" algn="bl" rotWithShape="0" blurRad="50800" dist="12700" dir="5400000">
              <a:srgbClr val="AAB4C4">
                <a:alpha val="35000"/>
              </a:srgbClr>
            </a:outerShdw>
          </a:effectLst>
        </p:spPr>
      </p:sp>
      <p:sp>
        <p:nvSpPr>
          <p:cNvPr id="49" name="Text 47"/>
          <p:cNvSpPr/>
          <p:nvPr/>
        </p:nvSpPr>
        <p:spPr>
          <a:xfrm>
            <a:off x="8988552" y="5632704"/>
            <a:ext cx="2688336" cy="585216"/>
          </a:xfrm>
          <a:prstGeom prst="rect">
            <a:avLst/>
          </a:prstGeom>
          <a:noFill/>
          <a:ln/>
        </p:spPr>
        <p:txBody>
          <a:bodyPr wrap="square" lIns="0" tIns="0" rIns="0" bIns="0" rtlCol="0" anchor="ctr"/>
          <a:lstStyle/>
          <a:p>
            <a:pPr algn="ctr" indent="0" marL="0">
              <a:lnSpc>
                <a:spcPct val="98000"/>
              </a:lnSpc>
              <a:buNone/>
            </a:pPr>
            <a:r>
              <a:rPr lang="en-US" sz="1100" b="1" dirty="0">
                <a:solidFill>
                  <a:srgbClr val="1F4E79"/>
                </a:solidFill>
                <a:latin typeface="Calibri" pitchFamily="34" charset="0"/>
                <a:ea typeface="Calibri" pitchFamily="34" charset="-122"/>
                <a:cs typeface="Calibri" pitchFamily="34" charset="-120"/>
              </a:rPr>
              <a:t>Standard SD Core + CDS</a:t>
            </a:r>
            <a:endParaRPr lang="en-US" sz="1100" dirty="0"/>
          </a:p>
          <a:p>
            <a:pPr algn="ctr" indent="0" marL="0">
              <a:lnSpc>
                <a:spcPct val="98000"/>
              </a:lnSpc>
              <a:buNone/>
            </a:pPr>
            <a:r>
              <a:rPr lang="en-US" sz="850" dirty="0">
                <a:solidFill>
                  <a:srgbClr val="2A2A2A"/>
                </a:solidFill>
                <a:latin typeface="Calibri" pitchFamily="34" charset="0"/>
                <a:ea typeface="Calibri" pitchFamily="34" charset="-122"/>
                <a:cs typeface="Calibri" pitchFamily="34" charset="-120"/>
              </a:rPr>
              <a:t>VBAK/VBAP/VBPA/VBKD · PRCD_ELEMENTS · user status · search projection</a:t>
            </a:r>
            <a:endParaRPr lang="en-US" sz="1100" dirty="0"/>
          </a:p>
        </p:txBody>
      </p:sp>
      <p:sp>
        <p:nvSpPr>
          <p:cNvPr id="50" name="Shape 48"/>
          <p:cNvSpPr/>
          <p:nvPr/>
        </p:nvSpPr>
        <p:spPr>
          <a:xfrm>
            <a:off x="10332720" y="5166360"/>
            <a:ext cx="0" cy="429768"/>
          </a:xfrm>
          <a:prstGeom prst="line">
            <a:avLst/>
          </a:prstGeom>
          <a:noFill/>
          <a:ln w="19050">
            <a:solidFill>
              <a:srgbClr val="5B6470"/>
            </a:solidFill>
            <a:prstDash val="solid"/>
            <a:tailEnd type="triangle"/>
          </a:ln>
        </p:spPr>
      </p:sp>
      <p:sp>
        <p:nvSpPr>
          <p:cNvPr id="51" name="Shape 49"/>
          <p:cNvSpPr/>
          <p:nvPr/>
        </p:nvSpPr>
        <p:spPr>
          <a:xfrm>
            <a:off x="411480" y="6419088"/>
            <a:ext cx="11338560" cy="310896"/>
          </a:xfrm>
          <a:prstGeom prst="roundRect">
            <a:avLst>
              <a:gd name="adj" fmla="val 11765"/>
            </a:avLst>
          </a:prstGeom>
          <a:solidFill>
            <a:srgbClr val="EFEFEF"/>
          </a:solidFill>
          <a:ln w="9525">
            <a:solidFill>
              <a:srgbClr val="CCCCCC"/>
            </a:solidFill>
            <a:prstDash val="dash"/>
          </a:ln>
        </p:spPr>
      </p:sp>
      <p:sp>
        <p:nvSpPr>
          <p:cNvPr id="52" name="Text 50"/>
          <p:cNvSpPr/>
          <p:nvPr/>
        </p:nvSpPr>
        <p:spPr>
          <a:xfrm>
            <a:off x="548640" y="6446520"/>
            <a:ext cx="11064240" cy="256032"/>
          </a:xfrm>
          <a:prstGeom prst="rect">
            <a:avLst/>
          </a:prstGeom>
          <a:noFill/>
          <a:ln/>
        </p:spPr>
        <p:txBody>
          <a:bodyPr wrap="square" lIns="0" tIns="0" rIns="0" bIns="0" rtlCol="0" anchor="ctr"/>
          <a:lstStyle/>
          <a:p>
            <a:pPr algn="ctr" indent="0" marL="0">
              <a:buNone/>
            </a:pPr>
            <a:r>
              <a:rPr lang="en-US" sz="850" i="1" dirty="0">
                <a:solidFill>
                  <a:srgbClr val="5B6470"/>
                </a:solidFill>
                <a:latin typeface="Calibri" pitchFamily="34" charset="0"/>
                <a:ea typeface="Calibri" pitchFamily="34" charset="-122"/>
                <a:cs typeface="Calibri" pitchFamily="34" charset="-120"/>
              </a:rPr>
              <a:t>Downstream (out of E008 scope, unchanged): EDI to distributor · ASN · delivery &amp; PGI · consignment fill-up · BW / UFMS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11338560" cy="457200"/>
          </a:xfrm>
          <a:prstGeom prst="rect">
            <a:avLst/>
          </a:prstGeom>
          <a:noFill/>
          <a:ln/>
        </p:spPr>
        <p:txBody>
          <a:bodyPr wrap="square" lIns="0" tIns="0" rIns="0" bIns="0" rtlCol="0" anchor="ctr"/>
          <a:lstStyle/>
          <a:p>
            <a:pPr indent="0" marL="0">
              <a:buNone/>
            </a:pPr>
            <a:r>
              <a:rPr lang="en-US" sz="2400" b="1" dirty="0">
                <a:solidFill>
                  <a:srgbClr val="1F4E79"/>
                </a:solidFill>
                <a:latin typeface="Cambria" pitchFamily="34" charset="0"/>
                <a:ea typeface="Cambria" pitchFamily="34" charset="-122"/>
                <a:cs typeface="Cambria" pitchFamily="34" charset="-120"/>
              </a:rPr>
              <a:t>Components — Consumption &amp; Service Layers</a:t>
            </a:r>
            <a:endParaRPr lang="en-US" sz="2400" dirty="0"/>
          </a:p>
        </p:txBody>
      </p:sp>
      <p:sp>
        <p:nvSpPr>
          <p:cNvPr id="3" name="Shape 1"/>
          <p:cNvSpPr/>
          <p:nvPr/>
        </p:nvSpPr>
        <p:spPr>
          <a:xfrm>
            <a:off x="411480" y="868680"/>
            <a:ext cx="2834640" cy="841248"/>
          </a:xfrm>
          <a:prstGeom prst="roundRect">
            <a:avLst>
              <a:gd name="adj" fmla="val 5435"/>
            </a:avLst>
          </a:prstGeom>
          <a:solidFill>
            <a:srgbClr val="DCE8F7"/>
          </a:solidFill>
          <a:ln w="9525">
            <a:solidFill>
              <a:srgbClr val="8FA8C8"/>
            </a:solidFill>
            <a:prstDash val="solid"/>
          </a:ln>
        </p:spPr>
      </p:sp>
      <p:sp>
        <p:nvSpPr>
          <p:cNvPr id="4" name="Text 2"/>
          <p:cNvSpPr/>
          <p:nvPr/>
        </p:nvSpPr>
        <p:spPr>
          <a:xfrm>
            <a:off x="530352" y="923544"/>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Order Cockpit</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Freestyle SAPUI5 · OData V4 model</a:t>
            </a:r>
            <a:endParaRPr lang="en-US" sz="1200" dirty="0"/>
          </a:p>
        </p:txBody>
      </p:sp>
      <p:sp>
        <p:nvSpPr>
          <p:cNvPr id="5" name="Text 3"/>
          <p:cNvSpPr/>
          <p:nvPr/>
        </p:nvSpPr>
        <p:spPr>
          <a:xfrm>
            <a:off x="3429000" y="886968"/>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The Awardee/CDC working screen: header, items, Inventory-on-Hand, shipping and history sections on one surface. Field enablement, value derivations (Provider → address/contact; Quantity → Fund Type) and messages are driven entirely by service metadata — the client contains no business rules. Unsaved-changes protection is client-side; no server drafts. Section 508 conformant.</a:t>
            </a:r>
            <a:endParaRPr lang="en-US" sz="1000" dirty="0"/>
          </a:p>
        </p:txBody>
      </p:sp>
      <p:sp>
        <p:nvSpPr>
          <p:cNvPr id="6" name="Shape 4"/>
          <p:cNvSpPr/>
          <p:nvPr/>
        </p:nvSpPr>
        <p:spPr>
          <a:xfrm>
            <a:off x="411480" y="1837944"/>
            <a:ext cx="2834640" cy="841248"/>
          </a:xfrm>
          <a:prstGeom prst="roundRect">
            <a:avLst>
              <a:gd name="adj" fmla="val 5435"/>
            </a:avLst>
          </a:prstGeom>
          <a:solidFill>
            <a:srgbClr val="DCE8F7"/>
          </a:solidFill>
          <a:ln w="9525">
            <a:solidFill>
              <a:srgbClr val="8FA8C8"/>
            </a:solidFill>
            <a:prstDash val="solid"/>
          </a:ln>
        </p:spPr>
      </p:sp>
      <p:sp>
        <p:nvSpPr>
          <p:cNvPr id="7" name="Text 5"/>
          <p:cNvSpPr/>
          <p:nvPr/>
        </p:nvSpPr>
        <p:spPr>
          <a:xfrm>
            <a:off x="530352" y="1892808"/>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Order Search &amp; List</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Fiori Elements List Report (V4)</a:t>
            </a:r>
            <a:endParaRPr lang="en-US" sz="1200" dirty="0"/>
          </a:p>
        </p:txBody>
      </p:sp>
      <p:sp>
        <p:nvSpPr>
          <p:cNvPr id="8" name="Text 6"/>
          <p:cNvSpPr/>
          <p:nvPr/>
        </p:nvSpPr>
        <p:spPr>
          <a:xfrm>
            <a:off x="3429000" y="1856232"/>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Multi-criteria search with per-field condition operators (is / contains / starts with / between / greater / less), saved search variants, Excel export, and navigation into the cockpit and Provider/Contact objects. Delivered near out-of-the-box on a dedicated search projection; result sets are server-filtered by jurisdiction before they ever reach the browser.</a:t>
            </a:r>
            <a:endParaRPr lang="en-US" sz="1000" dirty="0"/>
          </a:p>
        </p:txBody>
      </p:sp>
      <p:sp>
        <p:nvSpPr>
          <p:cNvPr id="9" name="Shape 7"/>
          <p:cNvSpPr/>
          <p:nvPr/>
        </p:nvSpPr>
        <p:spPr>
          <a:xfrm>
            <a:off x="411480" y="2807208"/>
            <a:ext cx="2834640" cy="841248"/>
          </a:xfrm>
          <a:prstGeom prst="roundRect">
            <a:avLst>
              <a:gd name="adj" fmla="val 5435"/>
            </a:avLst>
          </a:prstGeom>
          <a:solidFill>
            <a:srgbClr val="DCE8F7"/>
          </a:solidFill>
          <a:ln w="9525">
            <a:solidFill>
              <a:srgbClr val="8FA8C8"/>
            </a:solidFill>
            <a:prstDash val="solid"/>
          </a:ln>
        </p:spPr>
      </p:sp>
      <p:sp>
        <p:nvSpPr>
          <p:cNvPr id="10" name="Text 8"/>
          <p:cNvSpPr/>
          <p:nvPr/>
        </p:nvSpPr>
        <p:spPr>
          <a:xfrm>
            <a:off x="530352" y="2862072"/>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Shared Value Helps</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Reusable SAPUI5 fragments</a:t>
            </a:r>
            <a:endParaRPr lang="en-US" sz="1200" dirty="0"/>
          </a:p>
        </p:txBody>
      </p:sp>
      <p:sp>
        <p:nvSpPr>
          <p:cNvPr id="11" name="Text 9"/>
          <p:cNvSpPr/>
          <p:nvPr/>
        </p:nvSpPr>
        <p:spPr>
          <a:xfrm>
            <a:off x="3429000" y="2825496"/>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The cascading lookup dialogs the CDC specification requires (Provider, Employee Responsible with user sub-help, NDC with availability conditions, five-level Contact search, Ship-to, Created-by). Built once, consumed by both the cockpit and the List Report filters.</a:t>
            </a:r>
            <a:endParaRPr lang="en-US" sz="1000" dirty="0"/>
          </a:p>
        </p:txBody>
      </p:sp>
      <p:sp>
        <p:nvSpPr>
          <p:cNvPr id="12" name="Shape 10"/>
          <p:cNvSpPr/>
          <p:nvPr/>
        </p:nvSpPr>
        <p:spPr>
          <a:xfrm>
            <a:off x="411480" y="3776472"/>
            <a:ext cx="2834640" cy="841248"/>
          </a:xfrm>
          <a:prstGeom prst="roundRect">
            <a:avLst>
              <a:gd name="adj" fmla="val 5435"/>
            </a:avLst>
          </a:prstGeom>
          <a:solidFill>
            <a:srgbClr val="DCE8F7"/>
          </a:solidFill>
          <a:ln w="9525">
            <a:solidFill>
              <a:srgbClr val="8FA8C8"/>
            </a:solidFill>
            <a:prstDash val="solid"/>
          </a:ln>
        </p:spPr>
      </p:sp>
      <p:sp>
        <p:nvSpPr>
          <p:cNvPr id="13" name="Text 11"/>
          <p:cNvSpPr/>
          <p:nvPr/>
        </p:nvSpPr>
        <p:spPr>
          <a:xfrm>
            <a:off x="530352" y="3831336"/>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OData V4 UI Service</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Service binding on the RAP BO</a:t>
            </a:r>
            <a:endParaRPr lang="en-US" sz="1200" dirty="0"/>
          </a:p>
        </p:txBody>
      </p:sp>
      <p:sp>
        <p:nvSpPr>
          <p:cNvPr id="14" name="Text 12"/>
          <p:cNvSpPr/>
          <p:nvPr/>
        </p:nvSpPr>
        <p:spPr>
          <a:xfrm>
            <a:off x="3429000" y="3794760"/>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Transports entity data plus behavior metadata: per-field/per-status editability, side-effect triggers, and the message container. Bound actions expose copy, cancel, un-cancel, return, replacement, resubmit and print to the UI with framework-enforced authorization.</a:t>
            </a:r>
            <a:endParaRPr lang="en-US" sz="1000" dirty="0"/>
          </a:p>
        </p:txBody>
      </p:sp>
      <p:sp>
        <p:nvSpPr>
          <p:cNvPr id="15" name="Shape 13"/>
          <p:cNvSpPr/>
          <p:nvPr/>
        </p:nvSpPr>
        <p:spPr>
          <a:xfrm>
            <a:off x="411480" y="4745736"/>
            <a:ext cx="2834640" cy="841248"/>
          </a:xfrm>
          <a:prstGeom prst="roundRect">
            <a:avLst>
              <a:gd name="adj" fmla="val 5435"/>
            </a:avLst>
          </a:prstGeom>
          <a:solidFill>
            <a:srgbClr val="DCE8F7"/>
          </a:solidFill>
          <a:ln w="9525">
            <a:solidFill>
              <a:srgbClr val="8FA8C8"/>
            </a:solidFill>
            <a:prstDash val="solid"/>
          </a:ln>
        </p:spPr>
      </p:sp>
      <p:sp>
        <p:nvSpPr>
          <p:cNvPr id="16" name="Text 14"/>
          <p:cNvSpPr/>
          <p:nvPr/>
        </p:nvSpPr>
        <p:spPr>
          <a:xfrm>
            <a:off x="530352" y="4800600"/>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Web API Channel</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Web API service binding · comm. arrangement</a:t>
            </a:r>
            <a:endParaRPr lang="en-US" sz="1200" dirty="0"/>
          </a:p>
        </p:txBody>
      </p:sp>
      <p:sp>
        <p:nvSpPr>
          <p:cNvPr id="17" name="Text 15"/>
          <p:cNvSpPr/>
          <p:nvPr/>
        </p:nvSpPr>
        <p:spPr>
          <a:xfrm>
            <a:off x="3429000" y="4764024"/>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Machine order entry for EXiS and partner systems under interface users mapped to Awardee jurisdiction scope. Asynchronous contract: submission returns acceptance and a correlation ID; processing status is retrieved via the Status Service pattern; soft-stop outcomes surface as Rejected with full message payload; shipment details retrievable post-fulfillment.</a:t>
            </a:r>
            <a:endParaRPr lang="en-US" sz="1000" dirty="0"/>
          </a:p>
        </p:txBody>
      </p:sp>
      <p:sp>
        <p:nvSpPr>
          <p:cNvPr id="18" name="Shape 16"/>
          <p:cNvSpPr/>
          <p:nvPr/>
        </p:nvSpPr>
        <p:spPr>
          <a:xfrm>
            <a:off x="411480" y="5715000"/>
            <a:ext cx="2834640" cy="841248"/>
          </a:xfrm>
          <a:prstGeom prst="roundRect">
            <a:avLst>
              <a:gd name="adj" fmla="val 5435"/>
            </a:avLst>
          </a:prstGeom>
          <a:solidFill>
            <a:srgbClr val="DCE8F7"/>
          </a:solidFill>
          <a:ln w="9525">
            <a:solidFill>
              <a:srgbClr val="8FA8C8"/>
            </a:solidFill>
            <a:prstDash val="solid"/>
          </a:ln>
        </p:spPr>
      </p:sp>
      <p:sp>
        <p:nvSpPr>
          <p:cNvPr id="19" name="Text 17"/>
          <p:cNvSpPr/>
          <p:nvPr/>
        </p:nvSpPr>
        <p:spPr>
          <a:xfrm>
            <a:off x="530352" y="5769864"/>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Fiori Launchpad &amp; Roles</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Catalogs, tiles, PFCG</a:t>
            </a:r>
            <a:endParaRPr lang="en-US" sz="1200" dirty="0"/>
          </a:p>
        </p:txBody>
      </p:sp>
      <p:sp>
        <p:nvSpPr>
          <p:cNvPr id="20" name="Text 18"/>
          <p:cNvSpPr/>
          <p:nvPr/>
        </p:nvSpPr>
        <p:spPr>
          <a:xfrm>
            <a:off x="3429000" y="5733288"/>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Two delivered role tiers (CDC, Awardee) controlling tile visibility; Provider users have no direct access by design. Launchpad content is convenience only — every control is re-enforced server-side in the behavior layer.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11338560" cy="457200"/>
          </a:xfrm>
          <a:prstGeom prst="rect">
            <a:avLst/>
          </a:prstGeom>
          <a:noFill/>
          <a:ln/>
        </p:spPr>
        <p:txBody>
          <a:bodyPr wrap="square" lIns="0" tIns="0" rIns="0" bIns="0" rtlCol="0" anchor="ctr"/>
          <a:lstStyle/>
          <a:p>
            <a:pPr indent="0" marL="0">
              <a:buNone/>
            </a:pPr>
            <a:r>
              <a:rPr lang="en-US" sz="2400" b="1" dirty="0">
                <a:solidFill>
                  <a:srgbClr val="1F4E79"/>
                </a:solidFill>
                <a:latin typeface="Cambria" pitchFamily="34" charset="0"/>
                <a:ea typeface="Cambria" pitchFamily="34" charset="-122"/>
                <a:cs typeface="Cambria" pitchFamily="34" charset="-120"/>
              </a:rPr>
              <a:t>Components — Behavior, Data &amp; Integrations</a:t>
            </a:r>
            <a:endParaRPr lang="en-US" sz="2400" dirty="0"/>
          </a:p>
        </p:txBody>
      </p:sp>
      <p:sp>
        <p:nvSpPr>
          <p:cNvPr id="3" name="Shape 1"/>
          <p:cNvSpPr/>
          <p:nvPr/>
        </p:nvSpPr>
        <p:spPr>
          <a:xfrm>
            <a:off x="411480" y="868680"/>
            <a:ext cx="2834640" cy="841248"/>
          </a:xfrm>
          <a:prstGeom prst="roundRect">
            <a:avLst>
              <a:gd name="adj" fmla="val 5435"/>
            </a:avLst>
          </a:prstGeom>
          <a:solidFill>
            <a:srgbClr val="DCE8F7"/>
          </a:solidFill>
          <a:ln w="9525">
            <a:solidFill>
              <a:srgbClr val="8FA8C8"/>
            </a:solidFill>
            <a:prstDash val="solid"/>
          </a:ln>
        </p:spPr>
      </p:sp>
      <p:sp>
        <p:nvSpPr>
          <p:cNvPr id="4" name="Text 2"/>
          <p:cNvSpPr/>
          <p:nvPr/>
        </p:nvSpPr>
        <p:spPr>
          <a:xfrm>
            <a:off x="530352" y="923544"/>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RAP Business Object</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ABAP RESTful Application Programming · unmanaged</a:t>
            </a:r>
            <a:endParaRPr lang="en-US" sz="1200" dirty="0"/>
          </a:p>
        </p:txBody>
      </p:sp>
      <p:sp>
        <p:nvSpPr>
          <p:cNvPr id="5" name="Text 3"/>
          <p:cNvSpPr/>
          <p:nvPr/>
        </p:nvSpPr>
        <p:spPr>
          <a:xfrm>
            <a:off x="3429000" y="886968"/>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The single enforcement surface. Wraps the standard S/4 sales order API so every order is a real SD document (visible in VA02/VA03, flowing into standard fulfillment). Owns validations, determinations (Channel = UI/API, defaults), dynamic field control generated from the ratified status dictionary, and instance authorization: an operation an Awardee is not entitled to fails here even if a client renders the button — or if the request bypasses the UI entirely.</a:t>
            </a:r>
            <a:endParaRPr lang="en-US" sz="1000" dirty="0"/>
          </a:p>
        </p:txBody>
      </p:sp>
      <p:sp>
        <p:nvSpPr>
          <p:cNvPr id="6" name="Shape 4"/>
          <p:cNvSpPr/>
          <p:nvPr/>
        </p:nvSpPr>
        <p:spPr>
          <a:xfrm>
            <a:off x="411480" y="1837944"/>
            <a:ext cx="2834640" cy="841248"/>
          </a:xfrm>
          <a:prstGeom prst="roundRect">
            <a:avLst>
              <a:gd name="adj" fmla="val 5435"/>
            </a:avLst>
          </a:prstGeom>
          <a:solidFill>
            <a:srgbClr val="DCE8F7"/>
          </a:solidFill>
          <a:ln w="9525">
            <a:solidFill>
              <a:srgbClr val="8FA8C8"/>
            </a:solidFill>
            <a:prstDash val="solid"/>
          </a:ln>
        </p:spPr>
      </p:sp>
      <p:sp>
        <p:nvSpPr>
          <p:cNvPr id="7" name="Text 5"/>
          <p:cNvSpPr/>
          <p:nvPr/>
        </p:nvSpPr>
        <p:spPr>
          <a:xfrm>
            <a:off x="530352" y="1892808"/>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Bound Actions</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Behavior definition operations</a:t>
            </a:r>
            <a:endParaRPr lang="en-US" sz="1200" dirty="0"/>
          </a:p>
        </p:txBody>
      </p:sp>
      <p:sp>
        <p:nvSpPr>
          <p:cNvPr id="8" name="Text 6"/>
          <p:cNvSpPr/>
          <p:nvPr/>
        </p:nvSpPr>
        <p:spPr>
          <a:xfrm>
            <a:off x="3429000" y="1856232"/>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Copy (re-applies fund-split template and ancillary-kit rules), cancel at header/line honoring the pre/post-approval × direct-ship × role matrix with PO/PR cascade for CDC direct-ship cancellations, CDC-only un-cancel enabling ASN posting with budget/SPC re-commitment, return and replacement with reference (replacement bypasses budget checks by design, auditable and role-bound), resubmit, print trigger.</a:t>
            </a:r>
            <a:endParaRPr lang="en-US" sz="1000" dirty="0"/>
          </a:p>
        </p:txBody>
      </p:sp>
      <p:sp>
        <p:nvSpPr>
          <p:cNvPr id="9" name="Shape 7"/>
          <p:cNvSpPr/>
          <p:nvPr/>
        </p:nvSpPr>
        <p:spPr>
          <a:xfrm>
            <a:off x="411480" y="2807208"/>
            <a:ext cx="2834640" cy="841248"/>
          </a:xfrm>
          <a:prstGeom prst="roundRect">
            <a:avLst>
              <a:gd name="adj" fmla="val 5435"/>
            </a:avLst>
          </a:prstGeom>
          <a:solidFill>
            <a:srgbClr val="DCE8F7"/>
          </a:solidFill>
          <a:ln w="9525">
            <a:solidFill>
              <a:srgbClr val="8FA8C8"/>
            </a:solidFill>
            <a:prstDash val="solid"/>
          </a:ln>
        </p:spPr>
      </p:sp>
      <p:sp>
        <p:nvSpPr>
          <p:cNvPr id="10" name="Text 8"/>
          <p:cNvSpPr/>
          <p:nvPr/>
        </p:nvSpPr>
        <p:spPr>
          <a:xfrm>
            <a:off x="530352" y="2862072"/>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E006 Rule Integration</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Called on save / cancel / resubmit</a:t>
            </a:r>
            <a:endParaRPr lang="en-US" sz="1200" dirty="0"/>
          </a:p>
        </p:txBody>
      </p:sp>
      <p:sp>
        <p:nvSpPr>
          <p:cNvPr id="11" name="Text 9"/>
          <p:cNvSpPr/>
          <p:nvPr/>
        </p:nvSpPr>
        <p:spPr>
          <a:xfrm>
            <a:off x="3429000" y="2825496"/>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All business rule content (spend plan, eligibility, budget, contract, attributes; cancellation and re-commitment rules; 60-day batch re-validation) lives in E006 and is invoked by the behavior layer. Hard stops reject the save; soft stops persist the order as Rejected for fix-and-resubmit. Rules therefore apply identically to every channel.</a:t>
            </a:r>
            <a:endParaRPr lang="en-US" sz="1000" dirty="0"/>
          </a:p>
        </p:txBody>
      </p:sp>
      <p:sp>
        <p:nvSpPr>
          <p:cNvPr id="12" name="Shape 10"/>
          <p:cNvSpPr/>
          <p:nvPr/>
        </p:nvSpPr>
        <p:spPr>
          <a:xfrm>
            <a:off x="411480" y="3776472"/>
            <a:ext cx="2834640" cy="841248"/>
          </a:xfrm>
          <a:prstGeom prst="roundRect">
            <a:avLst>
              <a:gd name="adj" fmla="val 5435"/>
            </a:avLst>
          </a:prstGeom>
          <a:solidFill>
            <a:srgbClr val="DCE8F7"/>
          </a:solidFill>
          <a:ln w="9525">
            <a:solidFill>
              <a:srgbClr val="8FA8C8"/>
            </a:solidFill>
            <a:prstDash val="solid"/>
          </a:ln>
        </p:spPr>
      </p:sp>
      <p:sp>
        <p:nvSpPr>
          <p:cNvPr id="13" name="Text 11"/>
          <p:cNvSpPr/>
          <p:nvPr/>
        </p:nvSpPr>
        <p:spPr>
          <a:xfrm>
            <a:off x="530352" y="3831336"/>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E007 IoH Integration</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Consignment pre-population</a:t>
            </a:r>
            <a:endParaRPr lang="en-US" sz="1200" dirty="0"/>
          </a:p>
        </p:txBody>
      </p:sp>
      <p:sp>
        <p:nvSpPr>
          <p:cNvPr id="14" name="Text 12"/>
          <p:cNvSpPr/>
          <p:nvPr/>
        </p:nvSpPr>
        <p:spPr>
          <a:xfrm>
            <a:off x="3429000" y="3794760"/>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The cockpit’s Inventory-on-Hand block pre-fills NDC, lot, quantity and expiration from the provider’s consignment stock via E007 logic and creates the IoH document with status Submitted together with the order save. The IoH document object itself remains E007-owned.</a:t>
            </a:r>
            <a:endParaRPr lang="en-US" sz="1000" dirty="0"/>
          </a:p>
        </p:txBody>
      </p:sp>
      <p:sp>
        <p:nvSpPr>
          <p:cNvPr id="15" name="Shape 13"/>
          <p:cNvSpPr/>
          <p:nvPr/>
        </p:nvSpPr>
        <p:spPr>
          <a:xfrm>
            <a:off x="411480" y="4745736"/>
            <a:ext cx="2834640" cy="841248"/>
          </a:xfrm>
          <a:prstGeom prst="roundRect">
            <a:avLst>
              <a:gd name="adj" fmla="val 5435"/>
            </a:avLst>
          </a:prstGeom>
          <a:solidFill>
            <a:srgbClr val="DCE8F7"/>
          </a:solidFill>
          <a:ln w="9525">
            <a:solidFill>
              <a:srgbClr val="8FA8C8"/>
            </a:solidFill>
            <a:prstDash val="solid"/>
          </a:ln>
        </p:spPr>
      </p:sp>
      <p:sp>
        <p:nvSpPr>
          <p:cNvPr id="16" name="Text 14"/>
          <p:cNvSpPr/>
          <p:nvPr/>
        </p:nvSpPr>
        <p:spPr>
          <a:xfrm>
            <a:off x="530352" y="4800600"/>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Data Foundation</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Standard SD tables · CDS views</a:t>
            </a:r>
            <a:endParaRPr lang="en-US" sz="1200" dirty="0"/>
          </a:p>
        </p:txBody>
      </p:sp>
      <p:sp>
        <p:nvSpPr>
          <p:cNvPr id="17" name="Text 15"/>
          <p:cNvSpPr/>
          <p:nvPr/>
        </p:nvSpPr>
        <p:spPr>
          <a:xfrm>
            <a:off x="3429000" y="4764024"/>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S/4-native persistence (VBAK/VBAP/VBPA/VBKD, PRCD_ELEMENTS pricing, user-status framework) — no custom order tables. CDS interface and projection views serve the cockpit and a search-optimized projection; sizing follows the load figures captured at design.</a:t>
            </a:r>
            <a:endParaRPr lang="en-US" sz="1000" dirty="0"/>
          </a:p>
        </p:txBody>
      </p:sp>
      <p:sp>
        <p:nvSpPr>
          <p:cNvPr id="18" name="Shape 16"/>
          <p:cNvSpPr/>
          <p:nvPr/>
        </p:nvSpPr>
        <p:spPr>
          <a:xfrm>
            <a:off x="411480" y="5715000"/>
            <a:ext cx="2834640" cy="841248"/>
          </a:xfrm>
          <a:prstGeom prst="roundRect">
            <a:avLst>
              <a:gd name="adj" fmla="val 5435"/>
            </a:avLst>
          </a:prstGeom>
          <a:solidFill>
            <a:srgbClr val="DCE8F7"/>
          </a:solidFill>
          <a:ln w="9525">
            <a:solidFill>
              <a:srgbClr val="8FA8C8"/>
            </a:solidFill>
            <a:prstDash val="solid"/>
          </a:ln>
        </p:spPr>
      </p:sp>
      <p:sp>
        <p:nvSpPr>
          <p:cNvPr id="19" name="Text 17"/>
          <p:cNvSpPr/>
          <p:nvPr/>
        </p:nvSpPr>
        <p:spPr>
          <a:xfrm>
            <a:off x="530352" y="5769864"/>
            <a:ext cx="2606040" cy="7315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Downstream (unchanged)</a:t>
            </a:r>
            <a:endParaRPr lang="en-US" sz="1200" dirty="0"/>
          </a:p>
          <a:p>
            <a:pPr indent="0" marL="0">
              <a:buNone/>
            </a:pPr>
            <a:r>
              <a:rPr lang="en-US" sz="900" i="1" dirty="0">
                <a:solidFill>
                  <a:srgbClr val="5B6470"/>
                </a:solidFill>
                <a:latin typeface="Calibri" pitchFamily="34" charset="0"/>
                <a:ea typeface="Calibri" pitchFamily="34" charset="-122"/>
                <a:cs typeface="Calibri" pitchFamily="34" charset="-120"/>
              </a:rPr>
              <a:t>Migrate scope</a:t>
            </a:r>
            <a:endParaRPr lang="en-US" sz="1200" dirty="0"/>
          </a:p>
        </p:txBody>
      </p:sp>
      <p:sp>
        <p:nvSpPr>
          <p:cNvPr id="20" name="Text 18"/>
          <p:cNvSpPr/>
          <p:nvPr/>
        </p:nvSpPr>
        <p:spPr>
          <a:xfrm>
            <a:off x="3429000" y="5733288"/>
            <a:ext cx="8321040" cy="841248"/>
          </a:xfrm>
          <a:prstGeom prst="rect">
            <a:avLst/>
          </a:prstGeom>
          <a:noFill/>
          <a:ln/>
        </p:spPr>
        <p:txBody>
          <a:bodyPr wrap="square" lIns="0" tIns="0" rIns="0" bIns="0" rtlCol="0" anchor="ctr"/>
          <a:lstStyle/>
          <a:p>
            <a:pPr indent="0" marL="0">
              <a:lnSpc>
                <a:spcPct val="100000"/>
              </a:lnSpc>
              <a:buNone/>
            </a:pPr>
            <a:r>
              <a:rPr lang="en-US" sz="1000" dirty="0">
                <a:solidFill>
                  <a:srgbClr val="2A2A2A"/>
                </a:solidFill>
                <a:latin typeface="Calibri" pitchFamily="34" charset="0"/>
                <a:ea typeface="Calibri" pitchFamily="34" charset="-122"/>
                <a:cs typeface="Calibri" pitchFamily="34" charset="-120"/>
              </a:rPr>
              <a:t>EDI transmission to distributors, confirmations, ASN receipt, delivery/PGI updates, consignment fill-up and reporting feeds (BW/UFMS) continue as configured in the migration scope; E008 consumes their status results but does not alter them.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2026-07-24T14:05:03Z</dcterms:created>
  <dcterms:modified xsi:type="dcterms:W3CDTF">2026-07-24T14:05:03Z</dcterms:modified>
</cp:coreProperties>
</file>